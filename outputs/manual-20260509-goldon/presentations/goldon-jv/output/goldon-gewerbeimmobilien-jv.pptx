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072f4a12344ee2" /><Relationship Type="http://schemas.openxmlformats.org/officeDocument/2006/relationships/extended-properties" Target="/docProps/app.xml" Id="R9d26bf7879c64aba" /><Relationship Type="http://schemas.openxmlformats.org/officeDocument/2006/relationships/officeDocument" Target="/ppt/presentation.xml" Id="R5d2ed2ac324c43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925f4d8ec4053"/>
  </p:sldMasterIdLst>
  <p:notesMasterIdLst>
    <p:notesMasterId xmlns:r="http://schemas.openxmlformats.org/officeDocument/2006/relationships" r:id="Rff0420c42faf40b3"/>
  </p:notesMasterIdLst>
  <p:sldIdLst>
    <p:sldId xmlns:r="http://schemas.openxmlformats.org/officeDocument/2006/relationships" id="256" r:id="R1b9a50f626b64a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925f4d8ec4053" /><Relationship Type="http://schemas.openxmlformats.org/officeDocument/2006/relationships/theme" Target="/ppt/theme/theme1.xml" Id="R179eb377ae944797" /><Relationship Type="http://schemas.openxmlformats.org/officeDocument/2006/relationships/notesMaster" Target="/ppt/notesMasters/notesMaster1.xml" Id="Rff0420c42faf40b3" /><Relationship Type="http://schemas.openxmlformats.org/officeDocument/2006/relationships/presProps" Target="/ppt/presProps.xml" Id="R7fa56a4a86a64c3c" /><Relationship Type="http://schemas.openxmlformats.org/officeDocument/2006/relationships/viewProps" Target="/ppt/viewProps.xml" Id="R55a040f072e74e3f" /><Relationship Type="http://schemas.openxmlformats.org/officeDocument/2006/relationships/tableStyles" Target="/ppt/tableStyles.xml" Id="Re56328ce92444bf0" /><Relationship Type="http://schemas.openxmlformats.org/officeDocument/2006/relationships/slide" Target="/ppt/slides/slide1.xml" Id="R1b9a50f626b64a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378fefe2be9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851532ae9c4e6f" /><Relationship Type="http://schemas.openxmlformats.org/officeDocument/2006/relationships/notesMaster" Target="/ppt/notesMasters/notesMaster1.xml" Id="R16a06509330e44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cdcb61f0f456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e8a1471d07b4f40" /><Relationship Type="http://schemas.openxmlformats.org/officeDocument/2006/relationships/slideLayout" Target="/ppt/slideLayouts/slideLayout2.xml" Id="R4ec345ca281b4d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c345ca281b4d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a97756e634073" /><Relationship Type="http://schemas.openxmlformats.org/officeDocument/2006/relationships/image" Target="/ppt/media/image.png" Id="R1c0f83bb4b764369" /><Relationship Type="http://schemas.openxmlformats.org/officeDocument/2006/relationships/image" Target="/ppt/media/image.svg" Id="Ra57fa90654f34c17" /><Relationship Type="http://schemas.openxmlformats.org/officeDocument/2006/relationships/image" Target="/ppt/media/image2.png" Id="R3ff6ab31b7d3448c" /><Relationship Type="http://schemas.openxmlformats.org/officeDocument/2006/relationships/image" Target="/ppt/media/image2.svg" Id="R2143ef9c0b41425a" /><Relationship Type="http://schemas.openxmlformats.org/officeDocument/2006/relationships/image" Target="/ppt/media/image3.png" Id="Rdf51d07513ce4ed7" /><Relationship Type="http://schemas.openxmlformats.org/officeDocument/2006/relationships/image" Target="/ppt/media/image3.svg" Id="Rf88029da0e6e4a1f" /><Relationship Type="http://schemas.openxmlformats.org/officeDocument/2006/relationships/notesSlide" Target="/ppt/notesSlides/notesSlide1.xml" Id="R7d58e61ab8dc46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59800D-675B-4E82-BCE5-65BFA82F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AE338-12DA-456F-A282-7A90AEA6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8D0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DDA75-62D3-4799-BF03-21ED039A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15CA6-A19A-4BFF-91CC-1E3A3657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7800A-94A7-41F7-A2DC-3E46A52B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CDCB4-4788-4F86-8533-83B2A89C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535A0-D648-42FF-AD4C-B195DFAF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0DCA1-FC6E-4CCF-8122-182A8700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D2F89-39F2-4AB1-9E98-5D2F0B2D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D8D13-E938-4595-BB2D-268FC05A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5BC41-5EEC-4325-A9DD-00EE5EAE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150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7C67D-4C1A-493F-A826-A5ACD6C2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6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6B4F"/>
                </a:solidFill>
                <a:latin typeface="Aptos"/>
                <a:ea typeface="Aptos"/>
                <a:cs typeface="Aptos"/>
              </a:rPr>
              <a:t>Joint Venture: GoldOn Gewerbeimmobilien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2C52D-4B9B-4B8B-B949-3C034DC3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Smarte Energieimmobilien werden zum integrierten Infrastrukturprodukt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8ECCD-F4DF-4210-BA5D-7B5F0DFE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57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GoldOn bündelt gewerbliche Immobilienkompetenz mit Energie-, Netz- und Betriebs-Know-how: Gewerbekunden erhalten Gebäude, Energiemanagement und nachhaltige Lösungen aus einem abgestimmten Modell.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B0580-1AB3-4C6C-983A-8DE34BF7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"/>
            <a:ext cx="3333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E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055BA-62D2-45EB-9507-F35E5060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09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E0B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E0BD"/>
                </a:solidFill>
                <a:latin typeface="Aptos"/>
                <a:ea typeface="Aptos"/>
                <a:cs typeface="Aptos"/>
              </a:rPr>
              <a:t>Kernlogik des JV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7FB41-E0BA-4C8C-A153-4146940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87630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Gebäude, Energie und Daten aus einem abgestimmten Modell.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756B0-7A50-4F9A-B606-60A70927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2450"/>
            <a:ext cx="171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62088-B750-4B62-8239-3ED1578A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66775"/>
            <a:ext cx="1714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B1575-7DF4-471F-8812-6C37A9A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Angebot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8D78B-030C-4D6C-8AEA-22504BD1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069C0-9B06-4FD5-B922-7A2C4F05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6C7DF-1E7D-4381-B766-A50B40D6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f83bb4b764369">
            <a:extLst>
              <a:ext uri="{96DAC541-7B7A-43D3-8B79-37D633B846F1}">
                <asvg:svgBlip xmlns:asvg="http://schemas.microsoft.com/office/drawing/2016/SVG/main" r:embed="Ra57fa90654f34c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0670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59918-6547-48DF-B4DA-3B17F322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241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Immobilie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9CB75-0120-48B7-B284-AB1D16EB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Planung, Bau oder Modernisierung von Gewerbeflächen mit Energieinfrastruktur als Teil des Designs.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ADE3E-7DA6-49B0-8E24-A0F4988F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916E4-45FD-4113-ACC9-A0E29186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8B854-E0D1-47DD-9CB2-D8A9D82C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6ab31b7d3448c">
            <a:extLst>
              <a:ext uri="{96DAC541-7B7A-43D3-8B79-37D633B846F1}">
                <asvg:svgBlip xmlns:asvg="http://schemas.microsoft.com/office/drawing/2016/SVG/main" r:embed="R2143ef9c0b4142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4057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AED323-7554-4B11-B189-A22EDFC9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147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Energiemanagement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9E5AC5-F71C-4C76-9815-84C481D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Messung, Steuerung und Optimierung von Lasten, Eigenerzeugung, Speicher und Ladeinfrastruktur.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15AB67-636B-46D8-867D-75E2F870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324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C67BFB-C6F9-4199-A33A-5F32524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AAC47E-77DB-46D7-AC57-92330A45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1d07513ce4ed7">
            <a:extLst>
              <a:ext uri="{96DAC541-7B7A-43D3-8B79-37D633B846F1}">
                <asvg:svgBlip xmlns:asvg="http://schemas.microsoft.com/office/drawing/2016/SVG/main" r:embed="Rf88029da0e6e4a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5048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6D0F62-8029-49C5-9202-930ADED0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Sustainable Solutions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252749-B504-4447-87B9-D76C409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625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PV, Wärme, Effizienzmaßnahmen und netzdienliche Konzepte senken Kosten, Risiko und CO2-Fußabdruck.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258B8E-A71C-4ADB-90DE-94837C5B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Synergieeffekte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4EBF1B-72A5-420A-8E12-A86EA204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2628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279B03-4943-445A-B1D1-EBEC8DEA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2D2B6B-23AA-4763-998D-AE3ECDE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8610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A4900E-D4C8-46E8-835C-F962FF63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813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GOLDBECK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C301CD-34D4-4E70-9BD1-E264F001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Planung, Bau und Bestandstransformation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0EB22E-26BB-4618-9112-00233257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29025"/>
            <a:ext cx="2628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CB9D98-4339-4013-A7BA-7A87AC2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29025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177BE8-5F2E-4982-8DDD-F2F5DC23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195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0A9C36-A6A2-4E09-8D9A-77A5C1A6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E.ON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803279-4747-491E-9060-BD9C3B31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Netz, Energieversorgung und Infrastruktur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498BD4-67D0-480C-9E4B-8B6D774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62450"/>
            <a:ext cx="2628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1D0891-73E6-4050-9B0F-1DF6B4A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62450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8CB549-7AD3-4699-9FBD-7E764416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5529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DD4D9D-832D-4611-B915-3A7A4AB1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481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GoldOn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2FB6B1-A959-4A4E-A7AE-7EE37DB9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38675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Betrieb, Daten und skalierbare Angebote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223790-005B-4C27-9F4B-81F791E8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86350"/>
            <a:ext cx="2628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67D140-41FD-4DE9-A175-0D2BF0CB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387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E0B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E0BD"/>
                </a:solidFill>
                <a:latin typeface="Aptos"/>
                <a:ea typeface="Aptos"/>
                <a:cs typeface="Aptos"/>
              </a:rPr>
              <a:t>Ergebnis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462EE9-6580-4DE5-BA55-949311D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48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vernetzte Smart-Energy-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Immobilie im Betrieb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815B51-CA5E-4D8C-BD52-840172C0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11F"/>
                </a:solidFill>
                <a:latin typeface="Aptos Display"/>
                <a:ea typeface="Aptos Display"/>
                <a:cs typeface="Aptos Display"/>
              </a:rPr>
              <a:t>Zielgruppe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AF1A14-FF30-4AEB-9AA7-31C6B351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5FE00B-BD76-44B2-A9A6-33DD4245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0082D7-661D-4E8B-AD7C-54801E1A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6227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Industrie &amp; Produktion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99F702-CA43-4B30-8BD6-8B1DE90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2076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hohe Lasten, Dekarbonisierung, Versorgungssicherheit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CEA3F0-3581-4F51-9DFF-3243E64A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33775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BF35FA-1D2F-4D22-979D-DC878059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05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BF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434246-9187-4AE1-A1FF-272087EC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1950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Logistik &amp; Gewerbeparks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708432-BD72-474B-87ED-685412DE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00475"/>
            <a:ext cx="2076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Dachflächen, E-Flotten, Standortskalierung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C9F4AA-52AF-4989-AEBD-A4384C04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BECD31-1B0D-411E-B48A-8B9B07BC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52727F-756F-4803-91F8-1A5E0D4D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7672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11F"/>
                </a:solidFill>
                <a:latin typeface="Aptos"/>
                <a:ea typeface="Aptos"/>
                <a:cs typeface="Aptos"/>
              </a:rPr>
              <a:t>Handel &amp; Services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C81137-41CC-4461-BE22-A1627E43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57700"/>
            <a:ext cx="2076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B6B6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B6B66"/>
                </a:solidFill>
                <a:latin typeface="Aptos"/>
                <a:ea typeface="Aptos"/>
                <a:cs typeface="Aptos"/>
              </a:rPr>
              <a:t>Energiekosten, ESG-Nachweise, Komfortsteuerung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7EA939-ACFC-4876-B5F0-4B780C9A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72050"/>
            <a:ext cx="266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DAC33B-A79E-43FD-A3A4-7901AFEA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1143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E0B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FE0BD"/>
                </a:solidFill>
                <a:latin typeface="Aptos"/>
                <a:ea typeface="Aptos"/>
                <a:cs typeface="Aptos"/>
              </a:rPr>
              <a:t>Kundennutzen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CA871A-D3E0-43D0-BDCD-8654AE72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Planbarere Energiekosten, schnellere Umsetzung und glaubwürdige ESG-Wirkung.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9C8E57F-E536-4D4C-988B-17EE906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788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F448ED-48E5-4B02-A8CB-8E6F3A8C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798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F"/>
                </a:solidFill>
                <a:latin typeface="Aptos"/>
                <a:ea typeface="Aptos"/>
                <a:cs typeface="Aptos"/>
              </a:rPr>
              <a:t>Positionierung: kein reiner Energievertrag und kein Standardbau - sondern eine gewerbliche Immobilie, die von Anfang an als vernetztes Energie- und Infrastrukturasset funktioniert.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0A89DE-1232-497C-A65B-B5F2655D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9125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7B7264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7B7264"/>
                </a:solidFill>
                <a:latin typeface="Aptos"/>
                <a:ea typeface="Aptos"/>
                <a:cs typeface="Aptos"/>
              </a:rPr>
              <a:t>Arbeitsentwurf auf Basis der gelieferten Stichpunkte; keine extern verifizierten JV-Daten oder Logos enthalten.</a:t>
            </a:r>
          </a:p>
        </p:txBody>
      </p:sp>
    </p:spTree>
    <p:extLst>
      <p:ext uri="{BB962C8B-B14F-4D97-AF65-F5344CB8AC3E}">
        <p14:creationId xmlns:p14="http://schemas.microsoft.com/office/powerpoint/2010/main" val="1964326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2026-05-09T12:49:40.3950000Z</dcterms:created>
  <dcterms:modified xsi:type="dcterms:W3CDTF">2026-05-09T12:49:40.3950000Z</dcterms:modified>
</coreProperties>
</file>