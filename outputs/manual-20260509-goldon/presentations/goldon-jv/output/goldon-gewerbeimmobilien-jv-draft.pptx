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14f8a320a441a1" /><Relationship Type="http://schemas.openxmlformats.org/officeDocument/2006/relationships/extended-properties" Target="/docProps/app.xml" Id="Ra80b6c348a004d5c" /><Relationship Type="http://schemas.openxmlformats.org/officeDocument/2006/relationships/officeDocument" Target="/ppt/presentation.xml" Id="R24b21303597048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d7f72de5ae4f4e"/>
  </p:sldMasterIdLst>
  <p:notesMasterIdLst>
    <p:notesMasterId xmlns:r="http://schemas.openxmlformats.org/officeDocument/2006/relationships" r:id="R756532679ec4498c"/>
  </p:notesMasterIdLst>
  <p:sldIdLst>
    <p:sldId xmlns:r="http://schemas.openxmlformats.org/officeDocument/2006/relationships" id="256" r:id="Rf1af5af9339241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7f72de5ae4f4e" /><Relationship Type="http://schemas.openxmlformats.org/officeDocument/2006/relationships/theme" Target="/ppt/theme/theme1.xml" Id="R6c318d3eeba8457f" /><Relationship Type="http://schemas.openxmlformats.org/officeDocument/2006/relationships/notesMaster" Target="/ppt/notesMasters/notesMaster1.xml" Id="R756532679ec4498c" /><Relationship Type="http://schemas.openxmlformats.org/officeDocument/2006/relationships/presProps" Target="/ppt/presProps.xml" Id="R5196de879e5b4c25" /><Relationship Type="http://schemas.openxmlformats.org/officeDocument/2006/relationships/viewProps" Target="/ppt/viewProps.xml" Id="Raea8dc24e42348fc" /><Relationship Type="http://schemas.openxmlformats.org/officeDocument/2006/relationships/tableStyles" Target="/ppt/tableStyles.xml" Id="Rc0de6d40519a4dbf" /><Relationship Type="http://schemas.openxmlformats.org/officeDocument/2006/relationships/slide" Target="/ppt/slides/slide1.xml" Id="Rf1af5af9339241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f64188d092e45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bc5f64432f4afe" /><Relationship Type="http://schemas.openxmlformats.org/officeDocument/2006/relationships/notesMaster" Target="/ppt/notesMasters/notesMaster1.xml" Id="Rdd0a74cd84a845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83848e6d245f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3facf02e4dc4493" /><Relationship Type="http://schemas.openxmlformats.org/officeDocument/2006/relationships/slideLayout" Target="/ppt/slideLayouts/slideLayout2.xml" Id="Rd3293b5ffd5048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293b5ffd5048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9edf59d8244857" /><Relationship Type="http://schemas.openxmlformats.org/officeDocument/2006/relationships/image" Target="/ppt/media/image.png" Id="R42b2de486fb2419f" /><Relationship Type="http://schemas.openxmlformats.org/officeDocument/2006/relationships/image" Target="/ppt/media/image.svg" Id="R7f6fcb001f184f14" /><Relationship Type="http://schemas.openxmlformats.org/officeDocument/2006/relationships/image" Target="/ppt/media/image2.png" Id="R0f81548f683049e8" /><Relationship Type="http://schemas.openxmlformats.org/officeDocument/2006/relationships/image" Target="/ppt/media/image2.svg" Id="Rd434a8aa5c474c5b" /><Relationship Type="http://schemas.openxmlformats.org/officeDocument/2006/relationships/image" Target="/ppt/media/image3.png" Id="R9c0ae0b946a54faa" /><Relationship Type="http://schemas.openxmlformats.org/officeDocument/2006/relationships/image" Target="/ppt/media/image3.svg" Id="R03d6be8788964f1a" /><Relationship Type="http://schemas.openxmlformats.org/officeDocument/2006/relationships/notesSlide" Target="/ppt/notesSlides/notesSlide1.xml" Id="Rebef7f8e287349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9B2981-7055-410F-81BF-23054BBE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DAEDF-2ED7-417C-B6E2-75250A8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D0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B39B7-F158-4C6B-BFE9-4C935293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B1BE0-F24F-4652-A92C-D4CFB974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C8A2E-7D02-402D-A4D0-61F384E2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68F45-AA9A-41C0-A2CA-949F8E9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13F7B-4EB2-4AC5-B07E-18341D33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25721-0A8C-4D35-BAE4-D63BB42D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BA3D2-6E27-4002-950C-0C9E67C0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DFF6A-74CC-4583-8A43-A80CF5E5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29D46-6DD4-426B-AFAC-D61EA5DF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C10C1-A9F3-40CC-A191-335D05AC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6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6B4F"/>
                </a:solidFill>
                <a:latin typeface="Aptos"/>
                <a:ea typeface="Aptos"/>
                <a:cs typeface="Aptos"/>
              </a:rPr>
              <a:t>Joint Venture: GoldOn Gewerbeimmobilien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2C48D-2752-4569-9522-580EE0AD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rPr>
              <a:t>Smarte Energieimmobilien werden zum integrierten Infrastrukturprodukt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A8C91-2AE1-4325-A819-023E2256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57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GoldOn bündelt gewerbliche Immobilienkompetenz mit Energie-, Netz- und Betriebs-Know-how: Gewerbekunden erhalten Gebäude, Energiemanagement und nachhaltige Lösungen aus einem abgestimmten Modell.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67DEE-DEFE-4066-ACBE-9B53C8E1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E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FE300-6221-4289-AE13-1987A8CD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9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E0B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FE0BD"/>
                </a:solidFill>
                <a:latin typeface="Aptos"/>
                <a:ea typeface="Aptos"/>
                <a:cs typeface="Aptos"/>
              </a:rPr>
              <a:t>Kernlogik des JV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72604-F618-430F-B94D-4DC771D4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876300"/>
            <a:ext cx="2647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Gebäude, Energie und Daten aus einem abgestimmten Modell.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A53A6-7096-4ABE-ACE2-3D35730B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52450"/>
            <a:ext cx="171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F0FB1-9245-43C4-81CD-20D5AED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866775"/>
            <a:ext cx="171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822A5-8C3B-4878-AE23-CBB1AC5A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rPr>
              <a:t>Angebot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44744-FCB2-4619-81C1-50A185DA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D233B-E416-4E59-B076-2F501E68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0E293-E877-4919-928B-739B1C67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2de486fb2419f">
            <a:extLst>
              <a:ext uri="{96DAC541-7B7A-43D3-8B79-37D633B846F1}">
                <asvg:svgBlip xmlns:asvg="http://schemas.microsoft.com/office/drawing/2016/SVG/main" r:embed="R7f6fcb001f184f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30670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411DB7-AEA9-4162-B912-4730205A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241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rPr>
              <a:t>Immobilie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417C69-7D3B-478F-B853-B0AD0AF7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813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Planung, Bau oder Modernisierung von Gewerbeflächen mit Energieinfrastruktur als Teil des Designs.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2DB9B-BBB4-400C-BE21-1610DEFB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4AB5EA-2DA0-4A96-A7E3-293DADCC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E9E793-2539-4B6D-94ED-D95F78C3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1548f683049e8">
            <a:extLst>
              <a:ext uri="{96DAC541-7B7A-43D3-8B79-37D633B846F1}">
                <asvg:svgBlip xmlns:asvg="http://schemas.microsoft.com/office/drawing/2016/SVG/main" r:embed="Rd434a8aa5c474c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4057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D589BE-43CC-44C6-9BD5-42E2BE85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147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rPr>
              <a:t>Energiemanagement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BB0801-3487-4A2A-BDAC-2B73F353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Messung, Steuerung und Optimierung von Lasten, Eigenerzeugung, Speicher und Ladeinfrastruktur.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2A620A-FB51-4FFB-8770-02CE0C09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16E2A8-E2C2-4509-A9DF-19F57720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5178CF-9830-41C3-9325-5DE493D0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ae0b946a54faa">
            <a:extLst>
              <a:ext uri="{96DAC541-7B7A-43D3-8B79-37D633B846F1}">
                <asvg:svgBlip xmlns:asvg="http://schemas.microsoft.com/office/drawing/2016/SVG/main" r:embed="R03d6be8788964f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50482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A6FF55-62BE-4135-839C-3BA6E8A9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053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rPr>
              <a:t>Sustainable Solutions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97756B-18BA-48ED-9B7E-B24FE951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625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PV, Wärme, Effizienzmaßnahmen und netzdienliche Konzepte senken Kosten, Risiko und CO2-Fußabdruck.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BE0651-C05E-41A7-A7F9-4378BCBE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431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rPr>
              <a:t>Synergieeffekte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325E91-BC72-4890-82B8-92EA7C15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9080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F">
              <a:alpha val="80000"/>
            </a:srgbClr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E1CDA2-1F3C-408A-A188-51D2EF13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000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FCA">
              <a:alpha val="80000"/>
            </a:srgbClr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AA645A-716F-49D4-93DD-C6506721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F">
              <a:alpha val="80000"/>
            </a:srgbClr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86B3A0-82FF-4DD0-96A5-B1349CF3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5755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GOLDBECK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Bauen &amp; Bestand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0D3DCE-F7BD-43B0-B214-6F96FCE8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148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E.ON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Energie &amp; Netz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16CC95-352E-40A1-B8EF-7A01E060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148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GoldOn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Betrieb &amp; Daten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A19C75-1886-4DBA-B8E7-B33F724F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43375"/>
            <a:ext cx="1276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20">
              <a:alpha val="90196"/>
            </a:srgbClr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242355-F106-4B8E-BC18-0A8560FB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314825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Smart-Energy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Immobilie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688DDB-26E5-41CB-8527-3960692D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rPr>
              <a:t>Zielgruppe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E12154-174F-4B67-9A50-B6D697F4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765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0B0A87-2086-4B02-89AE-4732316B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E0B7AF-F68E-4E46-8118-7D5579AB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62275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Industrie &amp; Produktion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971D44-1DFB-4E27-AC25-75DBC325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2076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hohe Lasten, Dekarbonisierung, Versorgungssicherheit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4CDB54-28D3-48ED-9868-D3855065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33775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ACCEC8-F201-4CAD-A7A6-27E07B86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05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96AFB7-DEC9-4A01-9138-5364978C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19500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Logistik &amp; Gewerbeparks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605A39-34F5-49B6-8240-F69A930F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0000"/>
            <a:ext cx="2076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Dachflächen, E-Flotten, Standortskalierung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4EE68E-7172-4C53-9BEB-896199AE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50706D-9B26-48B3-88AF-979C3344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62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D52D95-7B12-450A-9A6F-2CBF3C7C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76725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Handel &amp; Services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8E5C8D-6568-4BC1-A1A8-D90CE331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67225"/>
            <a:ext cx="2076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Energiekosten, ESG-Nachweise, Komfortsteuerung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E24401F-511C-4FCF-9E82-34BD8CD7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72050"/>
            <a:ext cx="266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F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88100C-3350-4E54-A9C8-E14CD5E2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0"/>
            <a:ext cx="1143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E0B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FE0BD"/>
                </a:solidFill>
                <a:latin typeface="Aptos"/>
                <a:ea typeface="Aptos"/>
                <a:cs typeface="Aptos"/>
              </a:rPr>
              <a:t>Kundennutzen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545B90-160F-4970-A9D5-AB86038E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721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Planbarere Energie- und Betriebskosten, schnellere Umsetzung, glaubwürdige ESG-Wirkung.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D0FE557-2539-4BD0-86CD-4E8102AC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7886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999B4D-309D-4798-8E47-6F237AE4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798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1F"/>
                </a:solidFill>
                <a:latin typeface="Aptos"/>
                <a:ea typeface="Aptos"/>
                <a:cs typeface="Aptos"/>
              </a:rPr>
              <a:t>Positionierung: kein reiner Energievertrag und kein Standardbau - sondern eine gewerbliche Immobilie, die von Anfang an als vernetztes Energie- und Infrastrukturasset funktioniert.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5081FC-BFDD-4113-B7CE-A5BCF3F5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91250"/>
            <a:ext cx="255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7B7264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7B7264"/>
                </a:solidFill>
                <a:latin typeface="Aptos"/>
                <a:ea typeface="Aptos"/>
                <a:cs typeface="Aptos"/>
              </a:rPr>
              <a:t>Arbeitsentwurf auf Basis der gelieferten Stichpunkte; keine extern verifizierten JV-Daten oder Logos enthalten.</a:t>
            </a:r>
          </a:p>
        </p:txBody>
      </p:sp>
    </p:spTree>
    <p:extLst>
      <p:ext uri="{BB962C8B-B14F-4D97-AF65-F5344CB8AC3E}">
        <p14:creationId xmlns:p14="http://schemas.microsoft.com/office/powerpoint/2010/main" val="52689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2026-05-09T12:46:19.3130000Z</dcterms:created>
  <dcterms:modified xsi:type="dcterms:W3CDTF">2026-05-09T12:46:19.3130000Z</dcterms:modified>
</coreProperties>
</file>